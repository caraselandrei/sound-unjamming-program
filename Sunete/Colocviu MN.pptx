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DEB9204-8F94-A340-0DEC-57427253B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40A500A4-2429-CA40-4819-30E958B94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A87ED9E-261F-7798-470A-CE89115F0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DE6B94A-1A73-9E82-ACBA-10148157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EFB5BDDE-1E4C-0DBC-40B6-4872F90C9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8514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3C840C-8987-851D-BE28-0D9E2DB6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D916573-1AAA-E3DD-B68A-5C27390C7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BD4F38D-91D6-66D4-C1AF-03E01CC84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6B6B6C4-4F39-9AB7-0C0F-AC04D15C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CAAF9DF-BCAC-A7D0-688B-D7E474B7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3618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4E87669-7866-2D75-8B30-5E2E515A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EF1D13DD-6DEA-3954-2F7D-AB905E451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1047C84-1A8B-0397-D024-8AFF235A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038652E-4E87-83B2-9167-BA73AF0E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9C440BE-BE08-4907-FE9B-1279D609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7037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1D4DE37-FF2D-C39F-76ED-72658EDA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647522D-672D-99D4-27BE-2D9AD6618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89ECF180-BD4C-8A0C-2A4D-BBEE152B6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6DD49A45-02D0-62D6-AF6B-AD2AF6D63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8454ADD0-3EE3-0793-B9E6-B709EFC3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44B6F5FC-0DF1-8E66-7C0A-0487D04D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8901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C4E4D80-4316-6E3E-2B10-39527CC17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E75817A-BE44-F600-D2DD-85B2DD934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41EACAE1-3F70-BD2E-42AB-3BE258A39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ABDD23A1-2446-ED06-CBF0-9E5446A22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A585C69E-838D-7434-7078-195C74BFE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C3E1987-BB14-5E46-0480-1BA97BDFC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6A2EC768-BB0C-1E77-A557-72020DE9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CCB73141-EA27-08DF-10BC-3AE9B426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0389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21E2610-A822-46E1-2B20-2FA43D22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477A41A8-38D6-2AE3-35D0-14FB7420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3DA809FB-6232-2D88-C06C-BE6CB4F9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31F6EE78-A04D-A2FA-7469-68BCDFBF1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1866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E0A758-9489-DF6E-6F22-80E858B9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83996B27-A47F-5D6D-B713-7A6AE198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74CD959-2A32-6843-D405-11687C7BC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4218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AFFFF27-DC84-CA4C-0439-099449439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C57E018-D7CC-F55D-C7D4-D7250104F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967567A1-0944-89B7-3692-65B68585F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475DA1FB-CC7A-F6C1-A32C-68F69A52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EE1CB905-1106-25CD-BD63-4FA7A140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678C8380-8F00-475A-A106-27E4F75F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7399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478CC37-F501-E527-DC09-68F4FA16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25F77052-CABF-9358-A5A2-515E36B80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3B9ABF2B-AD6E-C6F0-934D-12ACC60FE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8713B6FE-9682-8BE0-8688-D1B0892F5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434E9C6-8037-432F-613D-108BBDBEE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FF11138A-D082-5AA0-5116-E8376BF3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4239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10B4DF6-3259-CC16-23AB-1D8B7C32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5807EAE4-C72B-39D3-5383-4D5B5934C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F4EDE22-6E42-7CD4-EA1E-0D1BA4DB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DFD5160E-444D-8289-43EE-D8BA3DB7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EE75F1C-E221-CD04-EFC3-5D134BB1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1215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58F41025-95AC-9698-47B2-C8BEA30EC5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1CAD56FF-62BC-7F84-2AD3-2A6C9290A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48BE5DE-F569-C68A-6881-68F00BCBF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051BC3F-2444-3311-E0BC-944874BF2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B9EDC3A-D9CB-2792-C9C5-AEA0066F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1375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B0003D69-D083-43E3-E2F3-565FADB2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F48458DE-5E20-4FA7-671C-9F3BE594F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E0BD802-D0AD-584E-F0C3-DC4DDDD66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BA638-03A1-4170-96B0-35AD1FDC5552}" type="datetimeFigureOut">
              <a:rPr lang="ro-RO" smtClean="0"/>
              <a:t>14.01.2026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445DCE8A-00F9-ACE2-182E-6777D4874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700E968-2521-3419-38BC-E99F14261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79FB1-3943-4ECD-999D-5BF1BE5CFFD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82605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509B149-57D8-EFD7-4805-853F66118A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 dirty="0"/>
              <a:t>Netezirea Semnalelor Audio folosind CMMP și Factorizarea QR</a:t>
            </a:r>
            <a:endParaRPr lang="ro-RO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807BA98F-5E5C-6E29-0683-0B292FD728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Realizat</a:t>
            </a:r>
            <a:r>
              <a:rPr lang="en-US" dirty="0"/>
              <a:t> de </a:t>
            </a:r>
            <a:r>
              <a:rPr lang="ro-RO" dirty="0"/>
              <a:t>Cărășel Andrei</a:t>
            </a:r>
          </a:p>
        </p:txBody>
      </p:sp>
    </p:spTree>
    <p:extLst>
      <p:ext uri="{BB962C8B-B14F-4D97-AF65-F5344CB8AC3E}">
        <p14:creationId xmlns:p14="http://schemas.microsoft.com/office/powerpoint/2010/main" val="75434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19BC26B-EAB4-18F6-6D50-9636B916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Obiectivul și Problema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F551EF6-263B-DBF6-C4BD-808BCECEA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b="1" dirty="0"/>
              <a:t>Context:</a:t>
            </a:r>
            <a:r>
              <a:rPr lang="ro-RO" dirty="0"/>
              <a:t> Semnalele reale (audio) sunt adesea afectate de zgomot alb (erori de înregistrare, paraziți).</a:t>
            </a:r>
            <a:r>
              <a:rPr lang="ro-RO" b="1" dirty="0"/>
              <a:t> </a:t>
            </a:r>
            <a:endParaRPr lang="en-US" b="1" dirty="0"/>
          </a:p>
          <a:p>
            <a:r>
              <a:rPr lang="ro-RO" b="1" dirty="0"/>
              <a:t>Scop:</a:t>
            </a:r>
            <a:r>
              <a:rPr lang="ro-RO" dirty="0"/>
              <a:t> Reconstrucția semnalului original prin eliminarea zgomotului, păstrând în același timp fidelitatea sunetului</a:t>
            </a:r>
          </a:p>
          <a:p>
            <a:r>
              <a:rPr lang="en-US" dirty="0"/>
              <a:t> </a:t>
            </a:r>
            <a:r>
              <a:rPr lang="ro-RO" b="1" dirty="0"/>
              <a:t>Ideea de bază:</a:t>
            </a:r>
            <a:r>
              <a:rPr lang="ro-RO" dirty="0"/>
              <a:t> Nu putem aproxima tot cântecul cu o singură funcție. Folosim o </a:t>
            </a:r>
            <a:r>
              <a:rPr lang="ro-RO" b="1" dirty="0"/>
              <a:t>abordare locală</a:t>
            </a:r>
            <a:r>
              <a:rPr lang="ro-RO" dirty="0"/>
              <a:t> (fereastră glisantă) și aproximăm punctele din acea fereastră cu un polinom de grad mic (parabolă).</a:t>
            </a:r>
          </a:p>
        </p:txBody>
      </p:sp>
    </p:spTree>
    <p:extLst>
      <p:ext uri="{BB962C8B-B14F-4D97-AF65-F5344CB8AC3E}">
        <p14:creationId xmlns:p14="http://schemas.microsoft.com/office/powerpoint/2010/main" val="1585906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0A289BE-37A7-3223-9E05-40675EAAE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Matematic (CMMP)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6D82495-3CDB-BA5B-C6F6-3D7715693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Avem</a:t>
            </a:r>
            <a:r>
              <a:rPr lang="en-US" dirty="0"/>
              <a:t> un system </a:t>
            </a:r>
            <a:r>
              <a:rPr lang="en-US" dirty="0" err="1"/>
              <a:t>supradeterminat</a:t>
            </a:r>
            <a:r>
              <a:rPr lang="en-US" dirty="0"/>
              <a:t> Ax=b, </a:t>
            </a:r>
            <a:r>
              <a:rPr lang="en-US" dirty="0" err="1"/>
              <a:t>unde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 </a:t>
            </a:r>
            <a:r>
              <a:rPr lang="ro-RO" dirty="0"/>
              <a:t>este matricea </a:t>
            </a:r>
            <a:r>
              <a:rPr lang="ro-RO" dirty="0" err="1"/>
              <a:t>Vandermonde</a:t>
            </a:r>
            <a:r>
              <a:rPr lang="ro-RO" dirty="0"/>
              <a:t> (construită pe baza timpului local).</a:t>
            </a:r>
            <a:endParaRPr lang="en-US" dirty="0"/>
          </a:p>
          <a:p>
            <a:pPr lvl="1"/>
            <a:r>
              <a:rPr lang="en-US" dirty="0"/>
              <a:t>B </a:t>
            </a:r>
            <a:r>
              <a:rPr lang="ro-RO" dirty="0"/>
              <a:t>sunt valorile eșantioanelor audio (cu zgomot).</a:t>
            </a:r>
            <a:endParaRPr lang="en-US" dirty="0"/>
          </a:p>
          <a:p>
            <a:pPr lvl="1"/>
            <a:r>
              <a:rPr lang="en-US" dirty="0"/>
              <a:t>x </a:t>
            </a:r>
            <a:r>
              <a:rPr lang="ro-RO" dirty="0"/>
              <a:t>sunt coeficienții polinomului căutat.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ro-RO" b="1" dirty="0"/>
              <a:t>Obiectiv :</a:t>
            </a:r>
            <a:r>
              <a:rPr lang="ro-RO" dirty="0"/>
              <a:t> Minimizarea erorii</a:t>
            </a:r>
            <a:r>
              <a:rPr lang="en-US" dirty="0"/>
              <a:t> ||Ax-b||^2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91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0B0DA39-6B2B-4A4A-60D5-9B3DE521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Algoritmul de Rezolvare (Factorizarea QR)</a:t>
            </a: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40E3573-11C7-20A6-CF60-68A70E70E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 ce QR </a:t>
            </a:r>
            <a:r>
              <a:rPr lang="fr-FR" dirty="0" err="1"/>
              <a:t>și</a:t>
            </a:r>
            <a:r>
              <a:rPr lang="fr-FR" dirty="0"/>
              <a:t> nu </a:t>
            </a:r>
            <a:r>
              <a:rPr lang="fr-FR" dirty="0" err="1"/>
              <a:t>Ecuații</a:t>
            </a:r>
            <a:r>
              <a:rPr lang="fr-FR" dirty="0"/>
              <a:t> Normale?</a:t>
            </a:r>
          </a:p>
          <a:p>
            <a:pPr lvl="1"/>
            <a:r>
              <a:rPr lang="ro-RO" dirty="0"/>
              <a:t>Ecuațiile normale</a:t>
            </a:r>
            <a:r>
              <a:rPr lang="en-US" dirty="0"/>
              <a:t> () </a:t>
            </a:r>
            <a:r>
              <a:rPr lang="ro-RO" dirty="0"/>
              <a:t>sunt instabile numeric pentru matricea </a:t>
            </a:r>
            <a:r>
              <a:rPr lang="ro-RO" dirty="0" err="1"/>
              <a:t>Vandermonde</a:t>
            </a:r>
            <a:r>
              <a:rPr lang="ro-RO" dirty="0"/>
              <a:t> (număr de condiționare mare).</a:t>
            </a:r>
            <a:endParaRPr lang="en-US" dirty="0"/>
          </a:p>
          <a:p>
            <a:pPr lvl="1"/>
            <a:r>
              <a:rPr lang="ro-RO" dirty="0"/>
              <a:t>Factorizarea QR</a:t>
            </a:r>
            <a:r>
              <a:rPr lang="en-US" dirty="0"/>
              <a:t> </a:t>
            </a:r>
            <a:r>
              <a:rPr lang="ro-RO" dirty="0"/>
              <a:t>este mult mai stabilă</a:t>
            </a:r>
            <a:r>
              <a:rPr lang="en-US" dirty="0"/>
              <a:t>.</a:t>
            </a:r>
            <a:endParaRPr lang="fr-FR" dirty="0"/>
          </a:p>
          <a:p>
            <a:r>
              <a:rPr lang="ro-RO" b="1" dirty="0"/>
              <a:t>Metoda Aleasă:</a:t>
            </a:r>
            <a:r>
              <a:rPr lang="ro-RO" dirty="0"/>
              <a:t> Reflexii </a:t>
            </a:r>
            <a:r>
              <a:rPr lang="ro-RO" dirty="0" err="1"/>
              <a:t>Householder</a:t>
            </a:r>
            <a:endParaRPr lang="en-US" dirty="0"/>
          </a:p>
          <a:p>
            <a:pPr marL="0" indent="0">
              <a:buNone/>
            </a:pPr>
            <a:endParaRPr lang="fr-FR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7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26319EF-63F4-F21E-211A-E885C36E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Implementarea și Optimizări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B618A69-9402-155E-4534-048E63D3D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dirty="0"/>
              <a:t>Fereastra Glisantă (</a:t>
            </a:r>
            <a:r>
              <a:rPr lang="ro-RO" b="1" dirty="0" err="1"/>
              <a:t>Sliding</a:t>
            </a:r>
            <a:r>
              <a:rPr lang="ro-RO" b="1" dirty="0"/>
              <a:t> </a:t>
            </a:r>
            <a:r>
              <a:rPr lang="ro-RO" b="1" dirty="0" err="1"/>
              <a:t>Window</a:t>
            </a:r>
            <a:r>
              <a:rPr lang="ro-RO" b="1" dirty="0"/>
              <a:t>):</a:t>
            </a:r>
            <a:r>
              <a:rPr lang="ro-RO" dirty="0"/>
              <a:t> Explică cum parcurgi vectorul.</a:t>
            </a:r>
            <a:endParaRPr lang="en-US" dirty="0"/>
          </a:p>
          <a:p>
            <a:r>
              <a:rPr lang="pt-BR" b="1" dirty="0"/>
              <a:t>Optimizarea Cheie:</a:t>
            </a:r>
            <a:r>
              <a:rPr lang="pt-BR" dirty="0"/>
              <a:t> Deoarece "forma" ferestrei este constantă, matricea A </a:t>
            </a:r>
            <a:r>
              <a:rPr lang="ro-RO" dirty="0"/>
              <a:t>nu se schimbă.</a:t>
            </a:r>
            <a:endParaRPr lang="en-US" dirty="0"/>
          </a:p>
          <a:p>
            <a:pPr lvl="1"/>
            <a:r>
              <a:rPr lang="ro-RO" dirty="0"/>
              <a:t>Am pre-calculat descompunerea</a:t>
            </a:r>
            <a:r>
              <a:rPr lang="en-US" dirty="0"/>
              <a:t> QR </a:t>
            </a:r>
            <a:r>
              <a:rPr lang="ro-RO" dirty="0"/>
              <a:t>o singură data</a:t>
            </a:r>
            <a:r>
              <a:rPr lang="en-US" dirty="0"/>
              <a:t>.</a:t>
            </a:r>
          </a:p>
          <a:p>
            <a:pPr lvl="1"/>
            <a:r>
              <a:rPr lang="ro-RO" dirty="0"/>
              <a:t>În timp real (în buclă), se face doar transformarea </a:t>
            </a:r>
            <a:r>
              <a:rPr lang="ro-RO" dirty="0" err="1"/>
              <a:t>vectorulu</a:t>
            </a:r>
            <a:r>
              <a:rPr lang="en-US" dirty="0" err="1"/>
              <a:t>i</a:t>
            </a:r>
            <a:r>
              <a:rPr lang="en-US" dirty="0"/>
              <a:t> b </a:t>
            </a:r>
            <a:r>
              <a:rPr lang="ro-RO" dirty="0"/>
              <a:t>și substituția înapoi.</a:t>
            </a:r>
          </a:p>
        </p:txBody>
      </p:sp>
    </p:spTree>
    <p:extLst>
      <p:ext uri="{BB962C8B-B14F-4D97-AF65-F5344CB8AC3E}">
        <p14:creationId xmlns:p14="http://schemas.microsoft.com/office/powerpoint/2010/main" val="268467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63BA762-6B9F-F0B7-18E7-8A604CC3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Rezultate Grafice (Vizualizare)</a:t>
            </a:r>
          </a:p>
        </p:txBody>
      </p:sp>
      <p:pic>
        <p:nvPicPr>
          <p:cNvPr id="7" name="Substituent conținut 6" descr="O imagine care conține text, Interval, captură de ecran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911D3F38-0315-EB9E-F2A9-0E692F3EB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174" y="1825625"/>
            <a:ext cx="81776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8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A3719EC-04FA-4E8E-F735-D6F9E61C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Analiza Performanței (Validare)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83D6AE0-AD78-0448-C9F1-F3AAF2FF0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Indicatorul SNR (Signal-</a:t>
            </a:r>
            <a:r>
              <a:rPr lang="ro-RO" dirty="0" err="1"/>
              <a:t>to</a:t>
            </a:r>
            <a:r>
              <a:rPr lang="ro-RO" dirty="0"/>
              <a:t>-</a:t>
            </a:r>
            <a:r>
              <a:rPr lang="ro-RO" dirty="0" err="1"/>
              <a:t>Noise</a:t>
            </a:r>
            <a:r>
              <a:rPr lang="ro-RO" dirty="0"/>
              <a:t> </a:t>
            </a:r>
            <a:r>
              <a:rPr lang="ro-RO" dirty="0" err="1"/>
              <a:t>Ratio</a:t>
            </a:r>
            <a:r>
              <a:rPr lang="ro-RO" dirty="0"/>
              <a:t>):</a:t>
            </a:r>
            <a:r>
              <a:rPr lang="en-US" dirty="0"/>
              <a:t> </a:t>
            </a:r>
            <a:r>
              <a:rPr lang="ro-RO" dirty="0"/>
              <a:t>Metrică standard în inginerie care compară puterea semnalului util ("Muzica") cu puterea zgomotului de fond ("Bruiajul").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Fereastra</a:t>
            </a:r>
            <a:r>
              <a:rPr lang="en-US" dirty="0"/>
              <a:t>: </a:t>
            </a:r>
            <a:r>
              <a:rPr lang="ro-RO" dirty="0"/>
              <a:t>Numărul de eșantioane consecutive utilizate pentru calculul polinomului local.</a:t>
            </a:r>
          </a:p>
        </p:txBody>
      </p:sp>
      <p:pic>
        <p:nvPicPr>
          <p:cNvPr id="5" name="Imagine 4" descr="O imagine care conține text, Font, alb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DE3287C3-83CC-26FB-67CA-F81E8F4B1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962275"/>
            <a:ext cx="36195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887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81D79F7-9F5B-8D11-38AC-C050E2FA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FA263BE-9D87-E55B-96AD-CBCB6ACCE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Analiza celor 3 scenarii:</a:t>
            </a:r>
            <a:endParaRPr lang="en-US" dirty="0"/>
          </a:p>
          <a:p>
            <a:pPr lvl="1"/>
            <a:r>
              <a:rPr lang="ro-RO" dirty="0"/>
              <a:t>Fereastră Prea Mică</a:t>
            </a:r>
            <a:r>
              <a:rPr lang="en-US" dirty="0"/>
              <a:t> (&lt;15)</a:t>
            </a:r>
            <a:r>
              <a:rPr lang="ro-RO" b="1" dirty="0"/>
              <a:t>:</a:t>
            </a:r>
            <a:r>
              <a:rPr lang="ro-RO" dirty="0"/>
              <a:t> </a:t>
            </a:r>
            <a:r>
              <a:rPr lang="ro-RO" b="1" dirty="0"/>
              <a:t>Sub-netezire</a:t>
            </a:r>
            <a:r>
              <a:rPr lang="ro-RO" dirty="0"/>
              <a:t>. Algoritmul urmărește zgomotul ("miopie"), filtrarea este ineficientă.</a:t>
            </a:r>
            <a:endParaRPr lang="en-US" dirty="0"/>
          </a:p>
          <a:p>
            <a:pPr lvl="1"/>
            <a:r>
              <a:rPr lang="ro-RO" dirty="0"/>
              <a:t>Fereastră Prea Mare</a:t>
            </a:r>
            <a:r>
              <a:rPr lang="en-US" dirty="0"/>
              <a:t> (&gt;100): </a:t>
            </a:r>
            <a:r>
              <a:rPr lang="ro-RO" b="1" dirty="0"/>
              <a:t>Supra-netezire</a:t>
            </a:r>
            <a:r>
              <a:rPr lang="ro-RO" dirty="0"/>
              <a:t>. Algoritmul șterge detaliile rapide (notele scurte, tobele). Sunetul devine "înfundat".</a:t>
            </a:r>
            <a:endParaRPr lang="en-US" dirty="0"/>
          </a:p>
          <a:p>
            <a:pPr lvl="1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1733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798FB9A-6C4F-EB42-ADD4-4E8570B5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Concluzii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EBF29D3-F498-7D64-EB5D-8FC4A8B62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Metoda QR este superioară numeric metodelor naive pentru această problemă.</a:t>
            </a:r>
            <a:endParaRPr lang="en-US" dirty="0"/>
          </a:p>
          <a:p>
            <a:r>
              <a:rPr lang="ro-RO" dirty="0"/>
              <a:t>Am reușit curățarea semnalului audio demonstrată atât vizual cât și matematic (SNR)</a:t>
            </a:r>
            <a:endParaRPr lang="en-US" dirty="0"/>
          </a:p>
          <a:p>
            <a:r>
              <a:rPr lang="ro-RO" dirty="0"/>
              <a:t>Implementarea optimizată permite procesarea rapidă a datelor.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56693155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365</Words>
  <Application>Microsoft Office PowerPoint</Application>
  <PresentationFormat>Ecran lat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Temă Office</vt:lpstr>
      <vt:lpstr>Netezirea Semnalelor Audio folosind CMMP și Factorizarea QR</vt:lpstr>
      <vt:lpstr>Obiectivul și Problema</vt:lpstr>
      <vt:lpstr>Modelul Matematic (CMMP)</vt:lpstr>
      <vt:lpstr>Algoritmul de Rezolvare (Factorizarea QR)</vt:lpstr>
      <vt:lpstr>Implementarea și Optimizări</vt:lpstr>
      <vt:lpstr>Rezultate Grafice (Vizualizare)</vt:lpstr>
      <vt:lpstr>Analiza Performanței (Validare)</vt:lpstr>
      <vt:lpstr>Prezentare PowerPoint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CĂRĂŞEL (150653)</dc:creator>
  <cp:lastModifiedBy>Andrei CĂRĂŞEL (150653)</cp:lastModifiedBy>
  <cp:revision>1</cp:revision>
  <dcterms:created xsi:type="dcterms:W3CDTF">2026-01-14T19:22:28Z</dcterms:created>
  <dcterms:modified xsi:type="dcterms:W3CDTF">2026-01-14T22:56:49Z</dcterms:modified>
</cp:coreProperties>
</file>